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gradFill rotWithShape="1">
            <a:gsLst>
              <a:gs pos="0">
                <a:srgbClr val="162A3E"/>
              </a:gs>
              <a:gs pos="100000">
                <a:srgbClr val="0A2845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286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00D4B8"/>
                </a:solidFill>
                <a:latin typeface="Calibri"/>
              </a:rPr>
              <a:t>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01168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JAGTE RAHO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00584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D4B8"/>
                </a:solidFill>
                <a:latin typeface="Calibri"/>
              </a:rPr>
              <a:t>Real-Time Face Recognition Attendance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600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A96B2"/>
                </a:solidFill>
                <a:latin typeface="Calibri"/>
              </a:rPr>
              <a:t>"Stay Vigilant"  —  Offline  •  Secure  •  Intelligent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00400"/>
            <a:ext cx="8229600" cy="18288"/>
          </a:xfrm>
          <a:prstGeom prst="rect">
            <a:avLst/>
          </a:prstGeom>
          <a:solidFill>
            <a:srgbClr val="7A9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337560"/>
            <a:ext cx="12801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336499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B8"/>
                </a:solidFill>
                <a:latin typeface="Calibri"/>
              </a:rPr>
              <a:t>Python 3.14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3337560"/>
            <a:ext cx="12801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01952" y="336499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B8"/>
                </a:solidFill>
                <a:latin typeface="Calibri"/>
              </a:rPr>
              <a:t>PyTorch 2.11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337560"/>
            <a:ext cx="12801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73552" y="336499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B8"/>
                </a:solidFill>
                <a:latin typeface="Calibri"/>
              </a:rPr>
              <a:t>MediaPipe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3337560"/>
            <a:ext cx="12801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336499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B8"/>
                </a:solidFill>
                <a:latin typeface="Calibri"/>
              </a:rPr>
              <a:t>FaceNet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337560"/>
            <a:ext cx="12801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16752" y="336499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B8"/>
                </a:solidFill>
                <a:latin typeface="Calibri"/>
              </a:rPr>
              <a:t>OpenCV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337560"/>
            <a:ext cx="1280160" cy="384048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364992"/>
            <a:ext cx="1225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B8"/>
                </a:solidFill>
                <a:latin typeface="Calibri"/>
              </a:rPr>
              <a:t>SQLite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0167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6B2"/>
                </a:solidFill>
                <a:latin typeface="Calibri"/>
              </a:rPr>
              <a:t>Final Year Project Presentation  |  B.Tech Computer Science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Presented by: Harsh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🔍 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051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10972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📋  Manual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  <a:latin typeface="Calibri"/>
              </a:rPr>
              <a:t>Traditional roll-call is time-consuming, error-prone, and easily manipulated through proxy attendance.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423160"/>
            <a:ext cx="8595360" cy="1051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423160"/>
            <a:ext cx="109728" cy="105156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688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🕵️  Photo 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803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  <a:latin typeface="Calibri"/>
              </a:rPr>
              <a:t>Simple face-detection systems are fooled by printed photos or digital screen displays — no way to detect a real person.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611880"/>
            <a:ext cx="8595360" cy="1051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611880"/>
            <a:ext cx="109728" cy="105156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65760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☁️  Privacy Concerns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690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  <a:latin typeface="Calibri"/>
              </a:rPr>
              <a:t>Cloud-based solutions transmit biometric data externally — unacceptable for institutions with strict data-privacy requirements.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800600"/>
            <a:ext cx="8595360" cy="105156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800600"/>
            <a:ext cx="109728" cy="1051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⏱️  Scalability Issues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25780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8E8"/>
                </a:solidFill>
                <a:latin typeface="Calibri"/>
              </a:rPr>
              <a:t>Large classes (100+ students) make manual or swipe-card based systems impractically slow.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🎯 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07592"/>
            <a:ext cx="502920" cy="50292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0759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Automated Attendance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Eliminate manual roll-call through real-time face recognition with high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30552"/>
            <a:ext cx="8595360" cy="9144"/>
          </a:xfrm>
          <a:prstGeom prst="rect">
            <a:avLst/>
          </a:prstGeom>
          <a:solidFill>
            <a:srgbClr val="7A9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295144"/>
            <a:ext cx="502920" cy="50292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2951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Anti-Spoofing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Implement Eye Aspect Ratio (EAR) liveness detection to prevent photo/video spoofing attacks.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118104"/>
            <a:ext cx="8595360" cy="9144"/>
          </a:xfrm>
          <a:prstGeom prst="rect">
            <a:avLst/>
          </a:prstGeom>
          <a:solidFill>
            <a:srgbClr val="7A9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282696"/>
            <a:ext cx="502920" cy="50292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2826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5526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Offline &amp; Private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93592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Store all biometric data locally in SQLite — zero cloud dependency, full data sovereignty.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05656"/>
            <a:ext cx="8595360" cy="9144"/>
          </a:xfrm>
          <a:prstGeom prst="rect">
            <a:avLst/>
          </a:prstGeom>
          <a:solidFill>
            <a:srgbClr val="7A9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270248"/>
            <a:ext cx="502920" cy="50292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2702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4281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Audit-Ready 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81144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Auto-generate daily CSV and styled XLSX attendance reports for institutional record keeping.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093208"/>
            <a:ext cx="8595360" cy="9144"/>
          </a:xfrm>
          <a:prstGeom prst="rect">
            <a:avLst/>
          </a:prstGeom>
          <a:solidFill>
            <a:srgbClr val="7A9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5257800"/>
            <a:ext cx="502920" cy="50292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257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303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User-Friendly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568696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Deliver a polished 3-tab desktop GUI for registration, recognition, and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🏗️ 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1417320" cy="10058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874519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B8"/>
                </a:solidFill>
                <a:latin typeface="Calibri"/>
              </a:rPr>
              <a:t>Camera
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2496" y="16916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6B2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2" y="1417320"/>
            <a:ext cx="1417320" cy="1005840"/>
          </a:xfrm>
          <a:prstGeom prst="rect">
            <a:avLst/>
          </a:prstGeom>
          <a:solidFill>
            <a:srgbClr val="162A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93392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3392" y="1874519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BlazeFace
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6916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6B2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58184" y="1417320"/>
            <a:ext cx="1417320" cy="10058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58184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1874519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B8"/>
                </a:solidFill>
                <a:latin typeface="Calibri"/>
              </a:rPr>
              <a:t>FaceNet
Embedding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16916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6B2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22976" y="1417320"/>
            <a:ext cx="1417320" cy="1005840"/>
          </a:xfrm>
          <a:prstGeom prst="rect">
            <a:avLst/>
          </a:prstGeom>
          <a:solidFill>
            <a:srgbClr val="162A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2976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1874519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A623"/>
                </a:solidFill>
                <a:latin typeface="Calibri"/>
              </a:rPr>
              <a:t>Cosine
Similarity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169164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7A96B2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7768" y="1417320"/>
            <a:ext cx="1417320" cy="1005840"/>
          </a:xfrm>
          <a:prstGeom prst="rect">
            <a:avLst/>
          </a:prstGeom>
          <a:solidFill>
            <a:srgbClr val="162A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87768" y="146304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7768" y="1874519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ECC71"/>
                </a:solidFill>
                <a:latin typeface="Calibri"/>
              </a:rPr>
              <a:t>Identity +
Confidence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Core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Data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017520"/>
            <a:ext cx="4297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detector.py  —  BlazeFace + FaceLandmarker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embedder.py  —  FaceNet 512-dim embeddings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liveness.py   —  EAR blink analysis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tracker.py    —  Multi-face frame tracking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matcher.py  —  Cosine similarity matching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01752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database.py  —  SQLite CRUD operations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attendance.py  —  CSV + XLSX logging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generate_report.py  —  Summary reports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data/faces.db  —  Embedded local DB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data/attendance/  —  Daily export files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606040"/>
            <a:ext cx="18288" cy="3291840"/>
          </a:xfrm>
          <a:prstGeom prst="rect">
            <a:avLst/>
          </a:prstGeom>
          <a:solidFill>
            <a:srgbClr val="7A9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🧠  FACE RECOGNITION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88720"/>
            <a:ext cx="4160520" cy="1828800"/>
          </a:xfrm>
          <a:prstGeom prst="rect">
            <a:avLst/>
          </a:prstGeom>
          <a:solidFill>
            <a:srgbClr val="162A3E"/>
          </a:solidFill>
          <a:ln w="12700">
            <a:solidFill>
              <a:srgbClr val="0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⚡  Two-Stage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3931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Stage 1 — BlazeFace (fast, ~30-60 ms/frame)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  → Locates face bounding boxes in real time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Stage 2 — FaceLandmarker (full 478 landmarks)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  → Activated only when needed for liveness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188720"/>
            <a:ext cx="4160520" cy="1828800"/>
          </a:xfrm>
          <a:prstGeom prst="rect">
            <a:avLst/>
          </a:prstGeom>
          <a:solidFill>
            <a:srgbClr val="162A3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Calibri"/>
              </a:rPr>
              <a:t>🔷  FaceNet 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64208"/>
            <a:ext cx="3931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Model: InceptionResnetV1 (pretrained on VGGFace2)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Output: 512-dimensional embedding vector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Matching: Cosine Similarity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  → Threshold tuned per deployment context</a:t>
            </a:r>
          </a:p>
          <a:p>
            <a:pPr algn="l"/>
            <a:r>
              <a:rPr sz="1100" b="0">
                <a:solidFill>
                  <a:srgbClr val="C8D8E8"/>
                </a:solidFill>
                <a:latin typeface="Calibri"/>
              </a:rPr>
              <a:t>  → Embeddings stored as BLOBs in SQLite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246120"/>
            <a:ext cx="8686800" cy="19202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2918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🗃️  Database Schema (SQLite)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49039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persons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49039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id, name, label, created_at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87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embeddings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187952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id, person_id → persons, embedding BLOB, source, created_at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62686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recognition_log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626864"/>
            <a:ext cx="6217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id, person_id, name, confidence, liveness, timestamp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5349240"/>
            <a:ext cx="8686800" cy="731520"/>
          </a:xfrm>
          <a:prstGeom prst="rect">
            <a:avLst/>
          </a:prstGeom>
          <a:solidFill>
            <a:srgbClr val="004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41324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✔  Non-blocking I/O: Recognition logs written asynchronously — no UI stutter during high-traffic sessions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👁️  ANTI-SPOOFING — LIVENESS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8686800" cy="1188720"/>
          </a:xfrm>
          <a:prstGeom prst="rect">
            <a:avLst/>
          </a:prstGeom>
          <a:solidFill>
            <a:srgbClr val="162A3E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16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6D"/>
                </a:solidFill>
                <a:latin typeface="Calibri"/>
              </a:rPr>
              <a:t>Eye Aspect Ratio (EAR) Algorithm — Soukupová &amp; Čech, 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EAR  =  ( ‖p₂−p₆‖ + ‖p₃−p₅‖ )  /  ( 2 × ‖p₁−p₄‖ 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2542032"/>
            <a:ext cx="4251960" cy="12344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2542032"/>
            <a:ext cx="91440" cy="1234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61518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1️⃣  Detect 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04495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BlazeFace locates the face bounding box in the live video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542032"/>
            <a:ext cx="4251960" cy="12344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2542032"/>
            <a:ext cx="91440" cy="1234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261518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2️⃣  Extract Landmarks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04495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FaceLandmarker returns 478 precise 3D landmarks — 12 used per eye.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959352"/>
            <a:ext cx="4251960" cy="12344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959352"/>
            <a:ext cx="91440" cy="1234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325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3️⃣  Compute 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46227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Vertical distances divided by horizontal eye width — drops sharply on blink.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3959352"/>
            <a:ext cx="4251960" cy="12344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60" y="3959352"/>
            <a:ext cx="91440" cy="1234440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4032504"/>
            <a:ext cx="3931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4️⃣  Count Blinks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4462272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System requires 2 valid blinks within 8 seconds to pass the liveness gate.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5440680"/>
            <a:ext cx="8686800" cy="658368"/>
          </a:xfrm>
          <a:prstGeom prst="rect">
            <a:avLst/>
          </a:prstGeom>
          <a:solidFill>
            <a:srgbClr val="2A0D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5046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D6D"/>
                </a:solidFill>
                <a:latin typeface="Calibri"/>
              </a:rPr>
              <a:t>⚙  EAR_THRESHOLD = 0.21     |     REQUIRED_BLINKS = 2     |     TIMEOUT = 8 seconds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🎨  DESKTOP GUI — THREE-TAB INTERFACE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2834640" cy="4892040"/>
          </a:xfrm>
          <a:prstGeom prst="rect">
            <a:avLst/>
          </a:prstGeom>
          <a:solidFill>
            <a:srgbClr val="162A3E"/>
          </a:solidFill>
          <a:ln w="19050">
            <a:solidFill>
              <a:srgbClr val="0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2834640" cy="502920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➕  Register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105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Enter full name of the 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Start webcam — position face in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272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Capture multiple samples (5-10 recommended)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78561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Click Register to persist to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43983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Multiple embeddings = higher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170432"/>
            <a:ext cx="2834640" cy="4892040"/>
          </a:xfrm>
          <a:prstGeom prst="rect">
            <a:avLst/>
          </a:prstGeom>
          <a:solidFill>
            <a:srgbClr val="162A3E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170432"/>
            <a:ext cx="2834640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188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👁  Recognize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8105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Click Start to begin live recognition 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BlazeFace detects faces in real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1272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Liveness gate: 2 blinks within 8 seconds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78561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Identified persons shown with confidence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443983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60-second cooldown per person per session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170432"/>
            <a:ext cx="2834640" cy="4892040"/>
          </a:xfrm>
          <a:prstGeom prst="rect">
            <a:avLst/>
          </a:prstGeom>
          <a:solidFill>
            <a:srgbClr val="162A3E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170432"/>
            <a:ext cx="2834640" cy="5029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1887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🗂  Manage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8105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View all registered persons in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46888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Embedding count per individual displayed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12724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Search and filter by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785616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Delete individuals from the 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443983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•  Instant refresh after changes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6144768"/>
            <a:ext cx="8686800" cy="594360"/>
          </a:xfrm>
          <a:prstGeom prst="rect">
            <a:avLst/>
          </a:prstGeom>
          <a:solidFill>
            <a:srgbClr val="0A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199632"/>
            <a:ext cx="8321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E8"/>
                </a:solidFill>
                <a:latin typeface="Calibri"/>
              </a:rPr>
              <a:t>🖥  Built with Tkinter 3 — Dark-themed, responsive, runs fully offline on Windows 10/11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📦 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4251960" cy="2057400"/>
          </a:xfrm>
          <a:prstGeom prst="rect">
            <a:avLst/>
          </a:prstGeom>
          <a:solidFill>
            <a:srgbClr val="162A3E"/>
          </a:solidFill>
          <a:ln w="12700">
            <a:solidFill>
              <a:srgbClr val="00D4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70432"/>
            <a:ext cx="4251960" cy="475488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122529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🧠 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PyTorch 2.11+  (inference backend)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torchvision 0.26+ (transforms)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88336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facenet-pytorch 2.6 (InceptionResnetV1)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90872" y="1170432"/>
            <a:ext cx="4251960" cy="2057400"/>
          </a:xfrm>
          <a:prstGeom prst="rect">
            <a:avLst/>
          </a:prstGeom>
          <a:solidFill>
            <a:srgbClr val="162A3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90872" y="1170432"/>
            <a:ext cx="425196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122529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👁  Vision &amp;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1737360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MediaPipe 0.10+ (BlazeFace + Landmarks)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221284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OpenCV 4.13+ (camera capture &amp; processing)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688336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478-point facial landmark model (TFLite)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383280"/>
            <a:ext cx="4251960" cy="2057400"/>
          </a:xfrm>
          <a:prstGeom prst="rect">
            <a:avLst/>
          </a:prstGeom>
          <a:solidFill>
            <a:srgbClr val="162A3E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383280"/>
            <a:ext cx="4251960" cy="4754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343814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💾  Data &amp; 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5020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SQLite 3 (zero-config embedded DB)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425696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NumPy 2.4+ (vector math)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901184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openpyxl 3.1+ (XLSX report generation)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90872" y="3383280"/>
            <a:ext cx="4251960" cy="2057400"/>
          </a:xfrm>
          <a:prstGeom prst="rect">
            <a:avLst/>
          </a:prstGeom>
          <a:solidFill>
            <a:srgbClr val="162A3E"/>
          </a:solidFill>
          <a:ln w="12700">
            <a:solidFill>
              <a:srgbClr val="FF4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90872" y="3383280"/>
            <a:ext cx="4251960" cy="475488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438144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🖥  Interface &amp; Utilities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8032" y="3950208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Tkinter 3 (cross-platform GUI)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4425696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Pillow 12+ (image display in GUI)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8032" y="4901184"/>
            <a:ext cx="3977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tqdm + requests (progress bars, HTTP)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650992"/>
            <a:ext cx="8686800" cy="502920"/>
          </a:xfrm>
          <a:prstGeom prst="rect">
            <a:avLst/>
          </a:prstGeom>
          <a:solidFill>
            <a:srgbClr val="143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5705856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CC71"/>
                </a:solidFill>
                <a:latin typeface="Calibri"/>
              </a:rPr>
              <a:t>🐍  Developed on Python 3.14  |  Tested on Windows 10 / 11  |  CPU &amp; GPU compatible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📊  RESULTS &amp; KEY ACHIEVEMENTS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70432"/>
            <a:ext cx="2788920" cy="117043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2176272"/>
            <a:ext cx="2788920" cy="16459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26187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B8"/>
                </a:solidFill>
                <a:latin typeface="Calibri"/>
              </a:rPr>
              <a:t>512-dim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8836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E8"/>
                </a:solidFill>
                <a:latin typeface="Calibri"/>
              </a:rPr>
              <a:t>FaceNet Vector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170432"/>
            <a:ext cx="2788920" cy="117043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72968" y="2176272"/>
            <a:ext cx="2788920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126187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libri"/>
              </a:rPr>
              <a:t>478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18836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E8"/>
                </a:solidFill>
                <a:latin typeface="Calibri"/>
              </a:rPr>
              <a:t>Face Landmarks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170432"/>
            <a:ext cx="2788920" cy="117043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17336" y="2176272"/>
            <a:ext cx="2788920" cy="1645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26187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ECC71"/>
                </a:solidFill>
                <a:latin typeface="Calibri"/>
              </a:rPr>
              <a:t>~30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188366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E8"/>
                </a:solidFill>
                <a:latin typeface="Calibri"/>
              </a:rPr>
              <a:t>Detection 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523744"/>
            <a:ext cx="2788920" cy="117043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529584"/>
            <a:ext cx="2788920" cy="16459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2615184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4D6D"/>
                </a:solidFill>
                <a:latin typeface="Calibri"/>
              </a:rPr>
              <a:t>2 Blinks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323697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E8"/>
                </a:solidFill>
                <a:latin typeface="Calibri"/>
              </a:rPr>
              <a:t>Liveness Threshold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2523744"/>
            <a:ext cx="2788920" cy="117043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72968" y="3529584"/>
            <a:ext cx="2788920" cy="16459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72968" y="2615184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A623"/>
                </a:solidFill>
                <a:latin typeface="Calibri"/>
              </a:rPr>
              <a:t>8 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323697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E8"/>
                </a:solidFill>
                <a:latin typeface="Calibri"/>
              </a:rPr>
              <a:t>Liveness 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2523744"/>
            <a:ext cx="2788920" cy="1170432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17336" y="3529584"/>
            <a:ext cx="2788920" cy="16459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17336" y="2615184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D4B8"/>
                </a:solidFill>
                <a:latin typeface="Calibri"/>
              </a:rPr>
              <a:t>60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17336" y="323697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8D8E8"/>
                </a:solidFill>
                <a:latin typeface="Calibri"/>
              </a:rPr>
              <a:t>Attendance Cooldown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4023360"/>
            <a:ext cx="8686800" cy="205740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0690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B8"/>
                </a:solidFill>
                <a:latin typeface="Calibri"/>
              </a:rPr>
              <a:t>✨  Feature Highlights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498848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Fully offline — zero cloud dependency</a:t>
            </a:r>
          </a:p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Auto model download on first run</a:t>
            </a:r>
          </a:p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Daily CSV + XLSX attendance reports</a:t>
            </a:r>
          </a:p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Asynchronous log writes (no UI freeze)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498848"/>
            <a:ext cx="4206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Multi-capture registration for accuracy</a:t>
            </a:r>
          </a:p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Cosine similarity with confidence score</a:t>
            </a:r>
          </a:p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SQLite BLOB storage for embeddings</a:t>
            </a:r>
          </a:p>
          <a:p>
            <a:pPr algn="l"/>
            <a:r>
              <a:rPr sz="1200" b="0">
                <a:solidFill>
                  <a:srgbClr val="2ECC71"/>
                </a:solidFill>
                <a:latin typeface="Calibri"/>
              </a:rPr>
              <a:t>✔  Headless test suite included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91640"/>
          </a:xfrm>
          <a:prstGeom prst="rect">
            <a:avLst/>
          </a:prstGeom>
          <a:gradFill rotWithShape="1">
            <a:gsLst>
              <a:gs pos="0">
                <a:srgbClr val="00443C"/>
              </a:gs>
              <a:gs pos="100000">
                <a:srgbClr val="0D1B2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91640"/>
            <a:ext cx="9144000" cy="54864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🏁  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D4B8"/>
                </a:solidFill>
                <a:latin typeface="Calibri"/>
              </a:rPr>
              <a:t>A complete, production-ready offline attendance system built with state-of-the-art CV/DL.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874519"/>
            <a:ext cx="4224528" cy="2834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874519"/>
            <a:ext cx="4224528" cy="438912"/>
          </a:xfrm>
          <a:prstGeom prst="rect">
            <a:avLst/>
          </a:prstGeom>
          <a:solidFill>
            <a:srgbClr val="00D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019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🎯  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9572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Successfully eliminates proxy attendance fraud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779776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Anti-spoofing prevents photo/screen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63824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Full data privacy — 100% local, no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547872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Clean 3-tab GUI for non-technical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Modular codebase — easy to extend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1596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Automated XLSX/CSV report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90872" y="1874519"/>
            <a:ext cx="4224528" cy="2834640"/>
          </a:xfrm>
          <a:prstGeom prst="rect">
            <a:avLst/>
          </a:prstGeom>
          <a:solidFill>
            <a:srgbClr val="16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90872" y="1874519"/>
            <a:ext cx="4224528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1901952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🚀  Future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239572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GPU acceleration for large-scale deployments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779776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Web dashboard for remote administration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3163824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Mobile app integration (Android/iOS)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2" y="3547872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Multi-camera simultaneous tracking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393192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Emotion / fatigue detection module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4315968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8E8"/>
                </a:solidFill>
                <a:latin typeface="Calibri"/>
              </a:rPr>
              <a:t>▸  Federated learning for privacy-preserving updates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4864608"/>
            <a:ext cx="9144000" cy="1536192"/>
          </a:xfrm>
          <a:prstGeom prst="rect">
            <a:avLst/>
          </a:prstGeom>
          <a:solidFill>
            <a:srgbClr val="07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4864608"/>
            <a:ext cx="9144000" cy="54864"/>
          </a:xfrm>
          <a:prstGeom prst="rect">
            <a:avLst/>
          </a:prstGeom>
          <a:gradFill rotWithShape="1">
            <a:gsLst>
              <a:gs pos="0">
                <a:srgbClr val="00D4B8"/>
              </a:gs>
              <a:gs pos="100000">
                <a:srgbClr val="F5A623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0" y="5029200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⬡  JAGTE RAHO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55961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D4B8"/>
                </a:solidFill>
                <a:latin typeface="Calibri"/>
              </a:rPr>
              <a:t>"Stay Vigilant"  —  Real-Time Face Recognition Attendance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6035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A96B2"/>
                </a:solidFill>
                <a:latin typeface="Calibri"/>
              </a:rPr>
              <a:t>Thank you for your attention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